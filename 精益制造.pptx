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0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7" userDrawn="1">
          <p15:clr>
            <a:srgbClr val="A4A3A4"/>
          </p15:clr>
        </p15:guide>
        <p15:guide id="2" pos="383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2" d="100"/>
          <a:sy n="92" d="100"/>
        </p:scale>
        <p:origin x="108" y="636"/>
      </p:cViewPr>
      <p:guideLst>
        <p:guide orient="horz" pos="2117"/>
        <p:guide pos="38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209541" y="356659"/>
            <a:ext cx="7864577" cy="440676"/>
          </a:xfrm>
        </p:spPr>
        <p:txBody>
          <a:bodyPr vert="horz" lIns="68580" tIns="34290" rIns="68580" bIns="34290" rtlCol="0" anchor="ctr">
            <a:noAutofit/>
          </a:bodyPr>
          <a:lstStyle>
            <a:lvl1pPr marL="0" marR="0" lvl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 dirty="0">
                <a:solidFill>
                  <a:srgbClr val="019BD3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 defTabSz="685800">
              <a:lnSpc>
                <a:spcPct val="90000"/>
              </a:lnSpc>
            </a:pPr>
            <a:r>
              <a:rPr lang="zh-CN" altLang="en-US" dirty="0"/>
              <a:t>公司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cxnSp>
        <p:nvCxnSpPr>
          <p:cNvPr id="12" name="直接连接符 11"/>
          <p:cNvCxnSpPr/>
          <p:nvPr userDrawn="1"/>
        </p:nvCxnSpPr>
        <p:spPr>
          <a:xfrm flipV="1">
            <a:off x="1271088" y="872083"/>
            <a:ext cx="10481301" cy="1"/>
          </a:xfrm>
          <a:prstGeom prst="line">
            <a:avLst/>
          </a:prstGeom>
          <a:ln w="15875" cmpd="sng">
            <a:solidFill>
              <a:srgbClr val="019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 userDrawn="1"/>
        </p:nvGrpSpPr>
        <p:grpSpPr>
          <a:xfrm>
            <a:off x="527539" y="331259"/>
            <a:ext cx="528104" cy="528000"/>
            <a:chOff x="406574" y="236732"/>
            <a:chExt cx="612048" cy="593261"/>
          </a:xfrm>
        </p:grpSpPr>
        <p:sp>
          <p:nvSpPr>
            <p:cNvPr id="15" name="矩形 14"/>
            <p:cNvSpPr/>
            <p:nvPr userDrawn="1"/>
          </p:nvSpPr>
          <p:spPr>
            <a:xfrm>
              <a:off x="406574" y="236732"/>
              <a:ext cx="504000" cy="504000"/>
            </a:xfrm>
            <a:prstGeom prst="rect">
              <a:avLst/>
            </a:prstGeom>
            <a:noFill/>
            <a:ln w="19050">
              <a:solidFill>
                <a:srgbClr val="019B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694606" y="512239"/>
              <a:ext cx="324016" cy="317754"/>
            </a:xfrm>
            <a:prstGeom prst="rect">
              <a:avLst/>
            </a:prstGeom>
            <a:solidFill>
              <a:srgbClr val="019BD3"/>
            </a:solidFill>
            <a:ln>
              <a:solidFill>
                <a:srgbClr val="019B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sp>
        <p:nvSpPr>
          <p:cNvPr id="18" name="矩形 17"/>
          <p:cNvSpPr/>
          <p:nvPr userDrawn="1"/>
        </p:nvSpPr>
        <p:spPr>
          <a:xfrm>
            <a:off x="107337" y="6568440"/>
            <a:ext cx="2080670" cy="231140"/>
          </a:xfrm>
          <a:prstGeom prst="rect">
            <a:avLst/>
          </a:prstGeom>
        </p:spPr>
        <p:txBody>
          <a:bodyPr wrap="square" lIns="91407" tIns="45704" rIns="91407" bIns="45704">
            <a:noAutofit/>
          </a:bodyPr>
          <a:lstStyle/>
          <a:p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3" name="组合 22"/>
          <p:cNvGrpSpPr/>
          <p:nvPr userDrawn="1"/>
        </p:nvGrpSpPr>
        <p:grpSpPr>
          <a:xfrm>
            <a:off x="0" y="6596380"/>
            <a:ext cx="12194402" cy="260350"/>
            <a:chOff x="0" y="10388"/>
            <a:chExt cx="19200" cy="410"/>
          </a:xfrm>
        </p:grpSpPr>
        <p:sp>
          <p:nvSpPr>
            <p:cNvPr id="4" name="矩形 3"/>
            <p:cNvSpPr/>
            <p:nvPr userDrawn="1"/>
          </p:nvSpPr>
          <p:spPr>
            <a:xfrm>
              <a:off x="0" y="10388"/>
              <a:ext cx="17082" cy="410"/>
            </a:xfrm>
            <a:prstGeom prst="rect">
              <a:avLst/>
            </a:prstGeom>
            <a:solidFill>
              <a:srgbClr val="019B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17082" y="10388"/>
              <a:ext cx="2118" cy="410"/>
            </a:xfrm>
            <a:prstGeom prst="rect">
              <a:avLst/>
            </a:prstGeom>
            <a:solidFill>
              <a:srgbClr val="FFBB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BB2D"/>
                </a:solidFill>
              </a:endParaRPr>
            </a:p>
          </p:txBody>
        </p:sp>
        <p:sp>
          <p:nvSpPr>
            <p:cNvPr id="20" name="等腰三角形 19"/>
            <p:cNvSpPr/>
            <p:nvPr userDrawn="1"/>
          </p:nvSpPr>
          <p:spPr>
            <a:xfrm rot="16200000">
              <a:off x="17536" y="10496"/>
              <a:ext cx="227" cy="195"/>
            </a:xfrm>
            <a:prstGeom prst="triangle">
              <a:avLst/>
            </a:prstGeom>
            <a:solidFill>
              <a:srgbClr val="3449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等腰三角形 20"/>
            <p:cNvSpPr/>
            <p:nvPr userDrawn="1"/>
          </p:nvSpPr>
          <p:spPr>
            <a:xfrm rot="5400000">
              <a:off x="18541" y="10507"/>
              <a:ext cx="227" cy="195"/>
            </a:xfrm>
            <a:prstGeom prst="triangle">
              <a:avLst/>
            </a:prstGeom>
            <a:solidFill>
              <a:srgbClr val="3449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11234948" y="6536054"/>
            <a:ext cx="597753" cy="365125"/>
          </a:xfrm>
          <a:prstGeom prst="rect">
            <a:avLst/>
          </a:prstGeom>
        </p:spPr>
        <p:txBody>
          <a:bodyPr vert="horz" lIns="91440" tIns="45720" rIns="91440" bIns="45720" rtlCol="0" anchor="ctr" anchorCtr="1"/>
          <a:lstStyle>
            <a:lvl1pPr algn="ctr">
              <a:defRPr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E1CC19DC-3E96-4AED-BC81-2BB3DEAD470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7" name="图片 6" descr="logo0100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47070" y="106045"/>
            <a:ext cx="735330" cy="734695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内容右多文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2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553200" y="1524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6553200" y="2082800"/>
            <a:ext cx="5029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6553200" y="3302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6553200" y="3860800"/>
            <a:ext cx="5029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6553200" y="5080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6553200" y="5638800"/>
            <a:ext cx="5029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科技创新</a:t>
            </a:r>
            <a:r>
              <a:rPr lang="en-US" altLang="zh-CN" dirty="0"/>
              <a:t>-</a:t>
            </a:r>
            <a:r>
              <a:rPr dirty="0"/>
              <a:t>精益制造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5591175" y="885825"/>
            <a:ext cx="6120130" cy="5662295"/>
            <a:chOff x="8415" y="1785"/>
            <a:chExt cx="9638" cy="8917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15" y="1785"/>
              <a:ext cx="9638" cy="4819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15" y="6604"/>
              <a:ext cx="9638" cy="4098"/>
            </a:xfrm>
            <a:prstGeom prst="rect">
              <a:avLst/>
            </a:prstGeom>
          </p:spPr>
        </p:pic>
      </p:grpSp>
      <p:sp>
        <p:nvSpPr>
          <p:cNvPr id="7" name="矩形 6"/>
          <p:cNvSpPr/>
          <p:nvPr/>
        </p:nvSpPr>
        <p:spPr>
          <a:xfrm>
            <a:off x="390698" y="996547"/>
            <a:ext cx="5403274" cy="52629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600" b="1" dirty="0">
                <a:solidFill>
                  <a:srgbClr val="FF0000"/>
                </a:solidFill>
                <a:sym typeface="+mn-ea"/>
              </a:rPr>
              <a:t>碳基新材料标杆基地 打造国际一流循环经济标杆</a:t>
            </a:r>
          </a:p>
          <a:p>
            <a:pPr lvl="0" algn="l">
              <a:buClrTx/>
              <a:buSzTx/>
              <a:buFontTx/>
            </a:pPr>
            <a:endParaRPr lang="zh-CN" altLang="en-US" sz="1600" b="1" dirty="0">
              <a:solidFill>
                <a:srgbClr val="FF0000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1400" b="1" dirty="0">
                <a:sym typeface="+mn-ea"/>
              </a:rPr>
              <a:t>山西永东化工股份有限公司</a:t>
            </a:r>
            <a:endParaRPr lang="en-US" altLang="zh-CN" sz="1400" b="1" dirty="0">
              <a:sym typeface="+mn-ea"/>
            </a:endParaRPr>
          </a:p>
          <a:p>
            <a:pPr lvl="0"/>
            <a:r>
              <a:rPr lang="zh-CN" altLang="en-US" sz="1200" dirty="0">
                <a:sym typeface="+mn-ea"/>
              </a:rPr>
              <a:t>总占地面积约</a:t>
            </a:r>
            <a:r>
              <a:rPr lang="en-US" altLang="zh-CN" sz="1200" dirty="0">
                <a:latin typeface="Times New Roman" panose="02020603050405020304" pitchFamily="18" charset="0"/>
                <a:cs typeface="+mn-ea"/>
                <a:sym typeface="+mn-ea"/>
              </a:rPr>
              <a:t>716,616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charset="-122"/>
                <a:cs typeface="+mn-ea"/>
                <a:sym typeface="+mn-ea"/>
              </a:rPr>
              <a:t>平方米，</a:t>
            </a:r>
            <a:r>
              <a:rPr lang="zh-CN" altLang="en-US" sz="1200" dirty="0"/>
              <a:t>拥有</a:t>
            </a:r>
            <a:r>
              <a:rPr lang="zh-CN" altLang="en-US" sz="1200" b="1" dirty="0"/>
              <a:t>炭黑生产工厂、精细加工工厂、煤焦油深加工工厂、发电工厂</a:t>
            </a:r>
            <a:r>
              <a:rPr lang="zh-CN" altLang="en-US" sz="1200" dirty="0"/>
              <a:t>四大核心厂区。基地全面推进信息化与工业化 “两化融合”，构建 “煤焦油加工 </a:t>
            </a:r>
            <a:r>
              <a:rPr lang="en-US" altLang="zh-CN" sz="1200" dirty="0"/>
              <a:t>+ </a:t>
            </a:r>
            <a:r>
              <a:rPr lang="zh-CN" altLang="en-US" sz="1200" dirty="0"/>
              <a:t>炭黑生产 </a:t>
            </a:r>
            <a:r>
              <a:rPr lang="en-US" altLang="zh-CN" sz="1200" dirty="0"/>
              <a:t>+ </a:t>
            </a:r>
            <a:r>
              <a:rPr lang="zh-CN" altLang="en-US" sz="1200" dirty="0"/>
              <a:t>尾气发电 </a:t>
            </a:r>
            <a:r>
              <a:rPr lang="en-US" altLang="zh-CN" sz="1200" dirty="0"/>
              <a:t>+ </a:t>
            </a:r>
            <a:r>
              <a:rPr lang="zh-CN" altLang="en-US" sz="1200" dirty="0"/>
              <a:t>精细化工” 的闭环循环经济产业链。</a:t>
            </a:r>
            <a:endParaRPr lang="en-US" altLang="zh-CN" sz="1200" dirty="0"/>
          </a:p>
          <a:p>
            <a:pPr lvl="0"/>
            <a:endParaRPr lang="zh-CN" altLang="en-US" sz="1400" b="1" dirty="0">
              <a:sym typeface="+mn-ea"/>
            </a:endParaRPr>
          </a:p>
          <a:p>
            <a:r>
              <a:rPr lang="zh-CN" altLang="en-US" sz="1200" b="1" dirty="0"/>
              <a:t>永东股份</a:t>
            </a:r>
            <a:r>
              <a:rPr lang="en-US" altLang="zh-CN" sz="1200" b="1" dirty="0"/>
              <a:t>—</a:t>
            </a:r>
            <a:r>
              <a:rPr lang="zh-CN" altLang="en-US" sz="1200" b="1" dirty="0"/>
              <a:t>炭黑生产工厂</a:t>
            </a:r>
          </a:p>
          <a:p>
            <a:r>
              <a:rPr lang="zh-CN" altLang="en-US" sz="1200" dirty="0"/>
              <a:t>已建成 </a:t>
            </a:r>
            <a:r>
              <a:rPr lang="en-US" altLang="zh-CN" sz="1200" dirty="0"/>
              <a:t>15 </a:t>
            </a:r>
            <a:r>
              <a:rPr lang="zh-CN" altLang="en-US" sz="1200" dirty="0"/>
              <a:t>条炭黑生产线，产品覆盖</a:t>
            </a:r>
            <a:r>
              <a:rPr lang="zh-CN" altLang="en-US" sz="1200" b="1" dirty="0"/>
              <a:t>橡胶炭黑、导电炭黑、色素炭黑</a:t>
            </a:r>
            <a:r>
              <a:rPr lang="zh-CN" altLang="en-US" sz="1200" dirty="0"/>
              <a:t>等品类。年产能达炭黑 </a:t>
            </a:r>
            <a:r>
              <a:rPr lang="en-US" altLang="zh-CN" sz="1200" dirty="0"/>
              <a:t>45 </a:t>
            </a:r>
            <a:r>
              <a:rPr lang="zh-CN" altLang="en-US" sz="1200" dirty="0"/>
              <a:t>万吨，其中导电炭黑产能 </a:t>
            </a:r>
            <a:r>
              <a:rPr lang="en-US" altLang="zh-CN" sz="1200" dirty="0"/>
              <a:t>4 </a:t>
            </a:r>
            <a:r>
              <a:rPr lang="zh-CN" altLang="en-US" sz="1200" dirty="0"/>
              <a:t>万吨 </a:t>
            </a:r>
            <a:r>
              <a:rPr lang="en-US" altLang="zh-CN" sz="1200" dirty="0"/>
              <a:t>/ </a:t>
            </a:r>
            <a:r>
              <a:rPr lang="zh-CN" altLang="en-US" sz="1200" dirty="0"/>
              <a:t>年，国内市占率领先，是全国炭黑行业十强企业核心产能载体。</a:t>
            </a:r>
            <a:endParaRPr lang="en-US" altLang="zh-CN" sz="1200" dirty="0"/>
          </a:p>
          <a:p>
            <a:endParaRPr lang="zh-CN" altLang="en-US" sz="1200" dirty="0"/>
          </a:p>
          <a:p>
            <a:r>
              <a:rPr lang="zh-CN" altLang="en-US" sz="1200" b="1" dirty="0"/>
              <a:t>永东股份</a:t>
            </a:r>
            <a:r>
              <a:rPr lang="en-US" altLang="zh-CN" sz="1200" b="1" dirty="0"/>
              <a:t>—</a:t>
            </a:r>
            <a:r>
              <a:rPr lang="zh-CN" altLang="en-US" sz="1200" b="1" dirty="0"/>
              <a:t>精细加工工厂</a:t>
            </a:r>
          </a:p>
          <a:p>
            <a:r>
              <a:rPr lang="zh-CN" altLang="en-US" sz="1200" dirty="0"/>
              <a:t>聚焦高附加值碳基新材料深加工，产品覆盖</a:t>
            </a:r>
            <a:r>
              <a:rPr lang="zh-CN" altLang="en-US" sz="1200" b="1" dirty="0"/>
              <a:t>煤系针状焦、苯酚、二甲酚</a:t>
            </a:r>
            <a:r>
              <a:rPr lang="zh-CN" altLang="en-US" sz="1200" dirty="0"/>
              <a:t>等品类。年产能达煤系针状焦 </a:t>
            </a:r>
            <a:r>
              <a:rPr lang="en-US" altLang="zh-CN" sz="1200" dirty="0"/>
              <a:t>4 </a:t>
            </a:r>
            <a:r>
              <a:rPr lang="zh-CN" altLang="en-US" sz="1200" dirty="0"/>
              <a:t>万吨、酚精制</a:t>
            </a:r>
            <a:r>
              <a:rPr lang="en-US" altLang="zh-CN" sz="1200" dirty="0"/>
              <a:t>1.5</a:t>
            </a:r>
            <a:r>
              <a:rPr lang="zh-CN" altLang="en-US" sz="1200" dirty="0"/>
              <a:t>万吨，是山西省碳基新材料产业链链主企业的核心高端产能板块。</a:t>
            </a:r>
            <a:endParaRPr lang="en-US" altLang="zh-CN" sz="1200" dirty="0"/>
          </a:p>
          <a:p>
            <a:endParaRPr lang="zh-CN" altLang="en-US" sz="1200" dirty="0"/>
          </a:p>
          <a:p>
            <a:r>
              <a:rPr lang="zh-CN" altLang="en-US" sz="1200" b="1" dirty="0"/>
              <a:t>永东股份</a:t>
            </a:r>
            <a:r>
              <a:rPr lang="en-US" altLang="zh-CN" sz="1200" b="1" dirty="0"/>
              <a:t>—</a:t>
            </a:r>
            <a:r>
              <a:rPr lang="zh-CN" altLang="en-US" sz="1200" b="1" dirty="0"/>
              <a:t>煤焦油深加工工厂</a:t>
            </a:r>
          </a:p>
          <a:p>
            <a:r>
              <a:rPr lang="zh-CN" altLang="en-US" sz="1200" dirty="0"/>
              <a:t>配套 </a:t>
            </a:r>
            <a:r>
              <a:rPr lang="en-US" altLang="zh-CN" sz="1200" dirty="0"/>
              <a:t>3 </a:t>
            </a:r>
            <a:r>
              <a:rPr lang="zh-CN" altLang="en-US" sz="1200" dirty="0"/>
              <a:t>套煤焦油加工设施，承担煤焦油全产业链深加工核心环节。年产改质沥青</a:t>
            </a:r>
            <a:r>
              <a:rPr lang="en-US" altLang="zh-CN" sz="1200" dirty="0"/>
              <a:t>20</a:t>
            </a:r>
            <a:r>
              <a:rPr lang="zh-CN" altLang="en-US" sz="1200" dirty="0"/>
              <a:t>万吨，年加工煤焦油能力达 </a:t>
            </a:r>
            <a:r>
              <a:rPr lang="en-US" altLang="zh-CN" sz="1200" dirty="0"/>
              <a:t>110 </a:t>
            </a:r>
            <a:r>
              <a:rPr lang="zh-CN" altLang="en-US" sz="1200" dirty="0"/>
              <a:t>万吨，为炭黑、针状焦等核心产品提供稳定原料保障，构建闭环循环经济产业链。</a:t>
            </a:r>
            <a:endParaRPr lang="en-US" altLang="zh-CN" sz="1200" dirty="0"/>
          </a:p>
          <a:p>
            <a:endParaRPr lang="zh-CN" altLang="en-US" sz="1200" dirty="0"/>
          </a:p>
          <a:p>
            <a:r>
              <a:rPr lang="zh-CN" altLang="en-US" sz="1200" b="1" dirty="0"/>
              <a:t>永东股份</a:t>
            </a:r>
            <a:r>
              <a:rPr lang="en-US" altLang="zh-CN" sz="1200" b="1" dirty="0"/>
              <a:t>—</a:t>
            </a:r>
            <a:r>
              <a:rPr lang="zh-CN" altLang="en-US" sz="1200" b="1" dirty="0"/>
              <a:t>发电工厂</a:t>
            </a:r>
          </a:p>
          <a:p>
            <a:r>
              <a:rPr lang="zh-CN" altLang="en-US" sz="1200" dirty="0"/>
              <a:t>依托炭黑生产过程中产生的尾气等副产物进行资源化发电，年发电能力</a:t>
            </a:r>
            <a:r>
              <a:rPr lang="en-US" altLang="zh-CN" sz="1200" dirty="0">
                <a:sym typeface="Noto Sans SC" panose="020B0200000000000000" charset="-122"/>
              </a:rPr>
              <a:t>6.4</a:t>
            </a:r>
            <a:r>
              <a:rPr lang="zh-CN" altLang="en-US" sz="1200" dirty="0">
                <a:sym typeface="Noto Sans SC" panose="020B0200000000000000" charset="-122"/>
              </a:rPr>
              <a:t>万千瓦，</a:t>
            </a:r>
            <a:r>
              <a:rPr lang="zh-CN" altLang="en-US" sz="1200" dirty="0"/>
              <a:t>为全基地生产运营提供绿色能源支撑，实现能源高效循环利用，助力基地绿色低碳发展。</a:t>
            </a:r>
          </a:p>
        </p:txBody>
      </p:sp>
    </p:spTree>
    <p:extLst>
      <p:ext uri="{BB962C8B-B14F-4D97-AF65-F5344CB8AC3E}">
        <p14:creationId xmlns:p14="http://schemas.microsoft.com/office/powerpoint/2010/main" val="31410018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088363ceabc89091f463b59e729210b0dcb74ce"/>
  <p:tag name="KSO_WM_NEWLAYOUT_ID" val="slide_80cb59745bfb057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304</Words>
  <Application>Microsoft Office PowerPoint</Application>
  <PresentationFormat>宽屏</PresentationFormat>
  <Paragraphs>17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Noto Sans SC</vt:lpstr>
      <vt:lpstr>微软雅黑</vt:lpstr>
      <vt:lpstr>Arial</vt:lpstr>
      <vt:lpstr>Calibri</vt:lpstr>
      <vt:lpstr>Times New Roman</vt:lpstr>
      <vt:lpstr>WPS</vt:lpstr>
      <vt:lpstr>科技创新-精益制造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网站首页</dc:title>
  <dc:creator>SZZX-FYJ</dc:creator>
  <cp:lastModifiedBy>X</cp:lastModifiedBy>
  <cp:revision>23</cp:revision>
  <dcterms:created xsi:type="dcterms:W3CDTF">2023-08-09T12:44:00Z</dcterms:created>
  <dcterms:modified xsi:type="dcterms:W3CDTF">2026-04-03T09:58:03Z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FB4C907A923A469CA1E9D90867414D0E_13</vt:lpwstr>
  </property>
</Properties>
</file>